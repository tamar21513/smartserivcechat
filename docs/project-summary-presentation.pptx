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7" r:id="rId4"/>
    <p:sldId id="278" r:id="rId5"/>
    <p:sldId id="259" r:id="rId6"/>
    <p:sldId id="260" r:id="rId7"/>
    <p:sldId id="268" r:id="rId8"/>
    <p:sldId id="262" r:id="rId9"/>
    <p:sldId id="261" r:id="rId10"/>
    <p:sldId id="270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66C7"/>
    <a:srgbClr val="7B6DF1"/>
    <a:srgbClr val="E967CB"/>
    <a:srgbClr val="F89AD9"/>
    <a:srgbClr val="626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59B450CB-F686-D419-4E4E-7C037F6650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r>
              <a:rPr lang="he-IL"/>
              <a:t>בס"ד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2477681-5272-3FFC-0F46-8EC050CA70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D7E1350-273F-46EE-9B6B-19E4D1BBC30E}" type="datetimeFigureOut">
              <a:rPr lang="he-IL" smtClean="0"/>
              <a:t>כ"ה/אלול/תשפ"ו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C974A17-F0C3-C98D-A581-4B3F71C67B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5E57259-57D6-166D-5C95-2B3B996C8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A7D851A-6DC0-402F-9471-06E46B2763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484940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r>
              <a:rPr lang="he-IL"/>
              <a:t>בס"ד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423184C-513C-40A7-82F7-3B1FFAD1544E}" type="datetimeFigureOut">
              <a:rPr lang="he-IL" smtClean="0"/>
              <a:t>כ"ה/אלול/תשפ"ו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AD154D9-AD44-4D5B-9EC8-602E6D9613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48264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4FF245-0DA8-C7BE-C9AA-8F800EB3A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D4778A7-4962-DBDC-64CC-6B8C7A65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92EFE75-861E-CA10-1A25-E7E0DD78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4FF-6DF4-4ADB-999F-D61F18787199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526F9E-1A1C-52C1-DBC6-220F63C5F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77EE0F3-9A02-7B27-9B1D-AB0269BB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170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F5E7E9-1A5D-949B-7FA9-8E4F7697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411015D-E8FB-6B15-B14A-4A4EFF65E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C272D96-1709-C369-7D41-D07E5B15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DAA43-5C8A-4233-B7C7-7420B6D180DD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DC4F2CB-44E5-1158-8DA4-949526C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5ED215-9697-0F3C-85AC-2C235B42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214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F98DB8-8867-A0F9-B117-CDF7DF70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E612B2B-69A0-2C54-D46F-3A2110A39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CFAAA9-0E38-4253-0D33-1F0B615D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5E6E4-84D0-4AE9-A0FE-01D90CD0A641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1E8A21-52AD-61B5-D811-F751EAAC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A920C0B-28FD-C7CD-8769-0626F90F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56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EEEF6D-19F8-A430-F3BE-9DB0BA1F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A9F507-B691-2C83-8C3C-FDFFFF15D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88D4AD4-A921-703D-163E-A38B8CE5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1DAF647-723D-AD75-E795-060D3662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1C3DC-6EDD-4ABE-A348-CBBECD23DCDB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80CCCB9-536E-9EC4-80A5-1732D4C4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2932321-56CF-7AF4-7439-296E61FC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341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EC9B5A-2C4A-4152-B947-0DE6FDEE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EF18D3-C2C7-B4B0-811F-30FA4F2EB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EDC8E1D-5CBB-56BC-B523-F7D4CFBF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B309297-A81C-90F7-C6C9-696B154EC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CCBCFF2-AAF6-098E-682E-FDD7A25C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9CBED66-7482-2399-2D83-88EEE7F2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15494-A716-41FF-9935-537CCB8BEE64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DBADBC7-FA6F-77CE-7BBA-D8DB7F149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E8C23E7-C742-12CD-15A3-0E430587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720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3851AA-44E2-A88E-D507-3E04B3C1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962BB5A-59FF-9B77-E062-5BF88D26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028B-4A79-4A11-B7CE-277F96797DA1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DCC72E1-67FA-3FC9-C8B2-C6CBE18F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CEF6D7E-6B83-BAD1-2DB5-A338C2368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134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27BBF71-1D97-965D-F050-27B950C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FE6D-05F1-4782-9A14-4694DB4F5144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266B71C6-9C70-3FAF-440B-FE931B7C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0306E9-C724-4763-3A84-BE0BB89E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765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5C64EA-D234-E56E-B861-57BC62BF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28B56E-6CE3-8685-79D5-21EBFEC05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264A29E-6FD0-CC86-00D3-EF4634664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9FE0923-7397-F9AE-5EC0-D5404C34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5B9C-3A76-4DF5-B105-10662D02C17F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CCBC361-239E-5D68-8649-EA1782B8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73D94D-F057-D6D2-B45B-A68ABA91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567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C0813A-E64C-2C42-286B-BE1EA38FE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AA15B46-1686-35DD-2877-E7CB1272B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AE701B8-D1CE-0A38-C28F-6585D7EC9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E7D0950-2947-5E13-0F56-8D4E2F0B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4D8E6-D34C-4379-BC48-A2F4066D21F8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3E6DCB-1A0C-C422-92AD-982894CE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1CEDB2A-F9E1-C167-16CA-D483E154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943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73F86F-5F69-4CE5-EF14-9DA428C3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0F8A5B4-4B58-7400-58D1-9BEB6E0ED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F32310F-00E1-EB7C-493F-27B11CC6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D7E4E-264D-42BB-87FB-BB523B19C11B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08A66C-1E42-43F9-9850-0363ED68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4FCBF9D-B80A-4671-EEA9-68EF7826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084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1A2CEE9-2B3B-0285-C158-E66773594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92F00FC-D7F9-121E-736E-3D9985D89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A9C66C-4168-3C71-FBF6-DA477E74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B890-6F1D-4772-BE07-C2CC7B383033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FC5E59-8CAA-7F4B-79C1-E0C1FB06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7F733BB-BBD2-FECD-0315-BB188CCC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26FF9"/>
            </a:gs>
            <a:gs pos="24000">
              <a:schemeClr val="bg1"/>
            </a:gs>
            <a:gs pos="84000">
              <a:srgbClr val="FFFFFF">
                <a:alpha val="44000"/>
                <a:lumMod val="96000"/>
              </a:srgbClr>
            </a:gs>
            <a:gs pos="95000">
              <a:srgbClr val="F566C7">
                <a:alpha val="78000"/>
              </a:srgbClr>
            </a:gs>
            <a:gs pos="100000">
              <a:srgbClr val="F566C7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61129E92-3039-78FB-62B8-F50007F9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B9C62CF-6252-0621-3E14-E770EE28F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270E26-8353-2F7F-84EC-138806860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7283-EB60-4E2F-8FA9-D4884BB2CDE9}" type="datetime8">
              <a:rPr lang="he-IL" smtClean="0"/>
              <a:t>07 ספטמבר 26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2B9803-DFA6-1725-6383-6AD45BFA6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064C258-2874-321B-514E-6059C0A2B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CA270-2928-46E0-92F6-EA967A5852A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419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5D7BEE7-9AA2-FE85-CC28-9A521EB3DD5E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56915457-2C66-0893-C822-D1BC9AB64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518CDD8-9EBE-7C81-83A9-708A8E57F0EC}"/>
              </a:ext>
            </a:extLst>
          </p:cNvPr>
          <p:cNvSpPr txBox="1"/>
          <p:nvPr/>
        </p:nvSpPr>
        <p:spPr>
          <a:xfrm>
            <a:off x="3023419" y="1553498"/>
            <a:ext cx="6145162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600" b="1" dirty="0">
                <a:ln w="19050">
                  <a:solidFill>
                    <a:srgbClr val="F566C7"/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Service Chat</a:t>
            </a:r>
            <a:endParaRPr lang="he-IL" sz="6600" b="1" dirty="0">
              <a:ln w="19050">
                <a:solidFill>
                  <a:srgbClr val="F566C7"/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614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0D68-D171-7E3E-396A-63ED1F4BC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021EDB98-A1A8-2FE6-A337-798D040E0D03}"/>
              </a:ext>
            </a:extLst>
          </p:cNvPr>
          <p:cNvSpPr txBox="1"/>
          <p:nvPr/>
        </p:nvSpPr>
        <p:spPr>
          <a:xfrm>
            <a:off x="4308987" y="519867"/>
            <a:ext cx="3574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נושא הפרויקט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F488DFB-5230-698E-369B-9226A5664B3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A4C4FA4-6ED8-C50D-63B0-B040E05768D4}"/>
              </a:ext>
            </a:extLst>
          </p:cNvPr>
          <p:cNvSpPr txBox="1"/>
          <p:nvPr/>
        </p:nvSpPr>
        <p:spPr>
          <a:xfrm>
            <a:off x="1907520" y="1350864"/>
            <a:ext cx="8376957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מערכת צ'אט חכמה לשירות לקוחות, המשלבת עיבוד שפה טבעית וניתוח נתונים לתורך מענה מדויק, מהיר ואישי ללקוח.</a:t>
            </a:r>
          </a:p>
          <a:p>
            <a:endParaRPr lang="he-IL" sz="2400" dirty="0"/>
          </a:p>
          <a:p>
            <a:r>
              <a:rPr lang="he-IL" sz="2400" b="1" dirty="0"/>
              <a:t>הרקע:</a:t>
            </a:r>
          </a:p>
          <a:p>
            <a:r>
              <a:rPr lang="he-IL" sz="2400" dirty="0"/>
              <a:t>לפני הפרויקט, לקוחות היו צריכים לפנות ידנית לנציגי שירות ולחכות לתשובות, והחברות התקשו לנתח במהירות את צורכי הלקוחות.</a:t>
            </a:r>
            <a:br>
              <a:rPr lang="he-IL" sz="2400" dirty="0"/>
            </a:br>
            <a:r>
              <a:rPr lang="he-IL" sz="2400" dirty="0"/>
              <a:t>הפרויקט </a:t>
            </a:r>
            <a:r>
              <a:rPr lang="he-IL" sz="2400" b="1" dirty="0" err="1"/>
              <a:t>Smart</a:t>
            </a:r>
            <a:r>
              <a:rPr lang="he-IL" sz="2400" b="1" dirty="0"/>
              <a:t> </a:t>
            </a:r>
            <a:r>
              <a:rPr lang="he-IL" sz="2400" b="1" dirty="0" err="1"/>
              <a:t>Service</a:t>
            </a:r>
            <a:r>
              <a:rPr lang="he-IL" sz="2400" b="1" dirty="0"/>
              <a:t> </a:t>
            </a:r>
            <a:r>
              <a:rPr lang="he-IL" sz="2400" b="1" dirty="0" err="1"/>
              <a:t>Chat</a:t>
            </a:r>
            <a:r>
              <a:rPr lang="he-IL" sz="2400" dirty="0"/>
              <a:t> נועד ליצור מערכת צ’אט חכמה שמזהה את שאלת המשתמש, מחפשת מידע רלוונטי, ומשיבה בצורה אוטומטית ומדויקת.</a:t>
            </a:r>
            <a:br>
              <a:rPr lang="he-IL" sz="2400" dirty="0"/>
            </a:br>
            <a:r>
              <a:rPr lang="he-IL" sz="2400" dirty="0"/>
              <a:t>בנוסף, המערכת שומרת היסטוריית שיחות ומפיקה ממנה מידע חשוב כמו נושאי שיחה, רגשות ופרטי משתמש חסרים.</a:t>
            </a:r>
            <a:br>
              <a:rPr lang="he-IL" sz="2400" dirty="0"/>
            </a:br>
            <a:r>
              <a:rPr lang="he-IL" sz="2400" dirty="0"/>
              <a:t>כך החברה יכולה לתת שירות מהיר, מסודר ומותאם יותר לכל לקוח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E2C3754-9DF0-4F01-4C3A-EAB9DC9BC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78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31997FC-CD4E-4921-93A2-4E8E68263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E4C5BD8-A97C-3777-4C18-984BCCB83925}"/>
              </a:ext>
            </a:extLst>
          </p:cNvPr>
          <p:cNvSpPr txBox="1"/>
          <p:nvPr/>
        </p:nvSpPr>
        <p:spPr>
          <a:xfrm>
            <a:off x="3619499" y="282146"/>
            <a:ext cx="49530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הבעיה האלגוריתמית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8EAC6FB-E273-6B9A-B414-147F700AACA6}"/>
              </a:ext>
            </a:extLst>
          </p:cNvPr>
          <p:cNvSpPr txBox="1"/>
          <p:nvPr/>
        </p:nvSpPr>
        <p:spPr>
          <a:xfrm>
            <a:off x="2192720" y="1025746"/>
            <a:ext cx="7806558" cy="50552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הבעיה האלגוריתמית העיקרית היא ניתוח טקסט.</a:t>
            </a:r>
          </a:p>
          <a:p>
            <a:endParaRPr lang="he-IL" sz="1050" dirty="0"/>
          </a:p>
          <a:p>
            <a:r>
              <a:rPr lang="he-IL" sz="2400" b="1" dirty="0"/>
              <a:t>תתי בעיות: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המרת שמע לטקסט.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משתמש בכניסה.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נתונים מה</a:t>
            </a:r>
            <a:r>
              <a:rPr lang="en-US" sz="2400" dirty="0"/>
              <a:t>SQL</a:t>
            </a:r>
            <a:r>
              <a:rPr lang="he-IL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הבנת משמעות ההודעה.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סיווג לנושא פניה.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מילוי </a:t>
            </a:r>
            <a:r>
              <a:rPr lang="en-US" sz="2400" dirty="0"/>
              <a:t>JSON</a:t>
            </a:r>
            <a:r>
              <a:rPr lang="he-IL" sz="2400" dirty="0"/>
              <a:t> מתאים ויצירת שאלה.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בדיקה האם הודעה היא הודעת </a:t>
            </a:r>
            <a:r>
              <a:rPr lang="he-IL" sz="2400"/>
              <a:t>המשך.</a:t>
            </a:r>
            <a:endParaRPr lang="he-I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חיפוש קטעים לתשובה.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ניסוח תשובה.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דו"ח אוטומטי.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שמירת נתונים.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E498F81-8E17-551D-9390-18CE57055947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130030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7D975-E27F-7D88-4AD6-6B982152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D4BBCAA-D551-902A-4C72-4593A980C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BF54325-BEA7-18BC-A216-62A4F40FB0BB}"/>
              </a:ext>
            </a:extLst>
          </p:cNvPr>
          <p:cNvSpPr txBox="1"/>
          <p:nvPr/>
        </p:nvSpPr>
        <p:spPr>
          <a:xfrm>
            <a:off x="1420221" y="832747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/>
              <a:t>תרשים זרימה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BA25271-6F5B-E61B-35F1-B07B42515D15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121CD318-6FBB-ABD8-D7D7-069BEF0E8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329" t="-5874" r="-17199" b="-6313"/>
          <a:stretch>
            <a:fillRect/>
          </a:stretch>
        </p:blipFill>
        <p:spPr>
          <a:xfrm>
            <a:off x="3057832" y="1376516"/>
            <a:ext cx="5997678" cy="4925961"/>
          </a:xfrm>
          <a:prstGeom prst="diamond">
            <a:avLst/>
          </a:prstGeom>
        </p:spPr>
      </p:pic>
    </p:spTree>
    <p:extLst>
      <p:ext uri="{BB962C8B-B14F-4D97-AF65-F5344CB8AC3E}">
        <p14:creationId xmlns:p14="http://schemas.microsoft.com/office/powerpoint/2010/main" val="174753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7888-9259-28D8-FDBA-F79E2BC7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2B92754-B670-8B43-BA96-B9451BF9F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DF1064A-F6C6-BB51-1167-4B2FCBB6EACE}"/>
              </a:ext>
            </a:extLst>
          </p:cNvPr>
          <p:cNvSpPr txBox="1"/>
          <p:nvPr/>
        </p:nvSpPr>
        <p:spPr>
          <a:xfrm>
            <a:off x="3619499" y="794517"/>
            <a:ext cx="49530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המרת שמע לטקסט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FED3F08-E56D-6CF3-E861-5E43CCAE8564}"/>
              </a:ext>
            </a:extLst>
          </p:cNvPr>
          <p:cNvSpPr txBox="1"/>
          <p:nvPr/>
        </p:nvSpPr>
        <p:spPr>
          <a:xfrm>
            <a:off x="2192720" y="1625514"/>
            <a:ext cx="7806558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סיסמה.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זיהוי מייל.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המרת מילים מסוימות לסימן. לדוגמא: </a:t>
            </a:r>
            <a:r>
              <a:rPr lang="en-US" sz="2400" dirty="0"/>
              <a:t>dot</a:t>
            </a:r>
            <a:r>
              <a:rPr lang="he-IL" sz="2400" dirty="0"/>
              <a:t> -&gt; "." 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מציאת סיסמה/מייל/שם על ידי ביטויים רגולריים. לדוגמא: חתיכת המשפט מ "</a:t>
            </a:r>
            <a:r>
              <a:rPr lang="en-US" sz="2400" dirty="0"/>
              <a:t>mail</a:t>
            </a:r>
            <a:r>
              <a:rPr lang="he-IL" sz="2400" dirty="0"/>
              <a:t>" עד שיש מייל תקין. וכן על שאר הדברים. 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81B21C7-0423-8ADD-0073-454946D4AD1E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103414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DCD3-37EB-55C3-55B7-4DEDB58B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16E859B-80A6-B18B-CB94-FAF5501FE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58D6864-F969-E4AC-3BF4-A77DAC419944}"/>
              </a:ext>
            </a:extLst>
          </p:cNvPr>
          <p:cNvSpPr txBox="1"/>
          <p:nvPr/>
        </p:nvSpPr>
        <p:spPr>
          <a:xfrm>
            <a:off x="3515647" y="371729"/>
            <a:ext cx="516070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זיהוי משתמש בכניסה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47A8A91-4DD5-F960-DFC2-79E21F6E5EB0}"/>
              </a:ext>
            </a:extLst>
          </p:cNvPr>
          <p:cNvSpPr txBox="1"/>
          <p:nvPr/>
        </p:nvSpPr>
        <p:spPr>
          <a:xfrm>
            <a:off x="1494566" y="1242707"/>
            <a:ext cx="9202865" cy="44627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על פי בדיקה ה</a:t>
            </a:r>
            <a:r>
              <a:rPr lang="en-US" sz="2400" dirty="0"/>
              <a:t>SQL</a:t>
            </a:r>
            <a:r>
              <a:rPr lang="he-IL" sz="2400" dirty="0"/>
              <a:t> האם קיים משתמש עם השם/המייל הנתון עם הסיסמה שהמשתמש הכניסה.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הסיסמה עוברת ב</a:t>
            </a:r>
            <a:r>
              <a:rPr lang="en-US" sz="2400" dirty="0"/>
              <a:t>HASH</a:t>
            </a:r>
            <a:r>
              <a:rPr lang="he-IL" sz="2400" dirty="0"/>
              <a:t> בכדי לשמור על אבטחת המשתמש.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מציאת כל המשתמשים עם השם/המייל של הלקוח.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מציאת המשתמש שה</a:t>
            </a:r>
            <a:r>
              <a:rPr lang="en-US" sz="2400" dirty="0"/>
              <a:t>HASH</a:t>
            </a:r>
            <a:r>
              <a:rPr lang="he-IL" sz="2400" dirty="0"/>
              <a:t> ששמור לו שווה ל</a:t>
            </a:r>
            <a:r>
              <a:rPr lang="en-US" sz="2400" dirty="0"/>
              <a:t>HASH</a:t>
            </a:r>
            <a:r>
              <a:rPr lang="he-IL" sz="2400" dirty="0"/>
              <a:t> של הסיסמה שהמשתמש הכניס.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אם לא קיים כזה משתמש להחזיר הודעה למשתמש שהנתונים שגויים, הכנס מחדש או האם תרצה להירשם למערכת.</a:t>
            </a:r>
          </a:p>
          <a:p>
            <a:r>
              <a:rPr lang="he-IL" sz="2000" b="1" dirty="0"/>
              <a:t>אחרת:</a:t>
            </a:r>
            <a:endParaRPr lang="he-IL" sz="2000" dirty="0"/>
          </a:p>
          <a:p>
            <a:r>
              <a:rPr lang="he-IL" sz="2400" u="sng" dirty="0"/>
              <a:t>שלב ד</a:t>
            </a:r>
            <a:r>
              <a:rPr lang="he-IL" sz="2400" dirty="0"/>
              <a:t>', במקרה שיש כזה משתמש לאשר כניסה.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5B31465-A57B-38EF-FB2B-247F11F366B1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24899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1E22B-8831-1D24-D1A6-9BF6FB81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0462519-6AE4-81FA-869E-653574FF3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8F7DB9F-1F86-8577-AF09-F0DD76AE600E}"/>
              </a:ext>
            </a:extLst>
          </p:cNvPr>
          <p:cNvSpPr txBox="1"/>
          <p:nvPr/>
        </p:nvSpPr>
        <p:spPr>
          <a:xfrm>
            <a:off x="3404727" y="302901"/>
            <a:ext cx="538254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שליפת נתונים מה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endParaRPr lang="he-IL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C5A1932-82A9-065D-C85B-0DD4AFE50ED4}"/>
              </a:ext>
            </a:extLst>
          </p:cNvPr>
          <p:cNvSpPr txBox="1"/>
          <p:nvPr/>
        </p:nvSpPr>
        <p:spPr>
          <a:xfrm>
            <a:off x="1646967" y="1133898"/>
            <a:ext cx="8898065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"מה שהוא" – פרטי משתמש.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ה"דברים שיש לו".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שליפת היסטורית שיחות.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מעבר בין שיחות – שמירת נושאי השיחה כעץ.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endParaRPr lang="he-IL" sz="2400" dirty="0"/>
          </a:p>
          <a:p>
            <a:r>
              <a:rPr lang="he-IL" sz="2400" b="1" dirty="0"/>
              <a:t>פתרונות:</a:t>
            </a:r>
            <a:endParaRPr lang="he-IL" sz="24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שליפת פרטי משתמש לתוך מבנה מסוג מחלקת </a:t>
            </a:r>
            <a:r>
              <a:rPr lang="en-US" sz="2400" b="1" dirty="0"/>
              <a:t>User</a:t>
            </a:r>
            <a:r>
              <a:rPr lang="en-US" sz="2400" dirty="0"/>
              <a:t> </a:t>
            </a:r>
            <a:r>
              <a:rPr lang="he-IL" sz="2400" dirty="0"/>
              <a:t> 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שליפת ה"דברים שיש לו" של המשתמש מן ה</a:t>
            </a:r>
            <a:r>
              <a:rPr lang="en-US" sz="2400" dirty="0"/>
              <a:t>SQL</a:t>
            </a:r>
            <a:r>
              <a:rPr lang="he-IL" sz="2400" dirty="0"/>
              <a:t> ושמירה במבנה נתונים מסוג עץ שכל צומת שהיא מסוג מחלקת </a:t>
            </a:r>
            <a:r>
              <a:rPr lang="en-US" sz="2400" b="1" dirty="0" err="1"/>
              <a:t>ThingsTheUserHas</a:t>
            </a:r>
            <a:r>
              <a:rPr lang="he-IL" sz="2400" b="1" dirty="0"/>
              <a:t> </a:t>
            </a:r>
            <a:r>
              <a:rPr lang="he-IL" sz="2400" dirty="0"/>
              <a:t>המכילה נושא ורשימת דברים הקשורים לנושא זה. </a:t>
            </a:r>
          </a:p>
          <a:p>
            <a:r>
              <a:rPr lang="he-IL" sz="2400" u="sng" dirty="0">
                <a:effectLst/>
              </a:rPr>
              <a:t>שלב ג</a:t>
            </a:r>
            <a:r>
              <a:rPr lang="he-IL" sz="2400" dirty="0">
                <a:effectLst/>
              </a:rPr>
              <a:t>', שליפת היסטורית שיחות המשתמש לתוך רשימה.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535060D-61DE-BE7C-D436-7CF08BA2538D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89188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27478-4E4A-B9A1-CA6F-3A00A110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2CF5F9AE-32F8-A6C3-F776-3DE7D5D70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8F10723-287E-B42B-1C19-18F6ECED4365}"/>
              </a:ext>
            </a:extLst>
          </p:cNvPr>
          <p:cNvSpPr txBox="1"/>
          <p:nvPr/>
        </p:nvSpPr>
        <p:spPr>
          <a:xfrm>
            <a:off x="3253402" y="617535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הבנת משמעות ההודעה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BBB7FF5-E46D-ECFB-4D4C-61920A8397BB}"/>
              </a:ext>
            </a:extLst>
          </p:cNvPr>
          <p:cNvSpPr txBox="1"/>
          <p:nvPr/>
        </p:nvSpPr>
        <p:spPr>
          <a:xfrm>
            <a:off x="1617469" y="1468849"/>
            <a:ext cx="8957059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סיווג לנושא השיחה.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מילוי </a:t>
            </a:r>
            <a:r>
              <a:rPr lang="en-US" sz="2400" dirty="0"/>
              <a:t>JSON</a:t>
            </a:r>
            <a:r>
              <a:rPr lang="he-IL" sz="2400" dirty="0"/>
              <a:t> מתאים לנושא הפניה.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חיפוש פרטים חסרים במצביע לצומת המתאימה בעץ נושאי השיחה הנוכחית ואם לא נמצא חיפוש בעץ הדברים שיש ללקוח.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שאלה מקוצרת.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שימוש במודל </a:t>
            </a:r>
            <a:r>
              <a:rPr lang="en-US" sz="2400" dirty="0"/>
              <a:t> </a:t>
            </a:r>
            <a:r>
              <a:rPr lang="en-US" sz="2400" b="1" dirty="0" err="1"/>
              <a:t>trained_setfit_topic</a:t>
            </a:r>
            <a:r>
              <a:rPr lang="he-IL" sz="2400" b="1" dirty="0"/>
              <a:t> </a:t>
            </a:r>
            <a:r>
              <a:rPr lang="he-IL" sz="2400" dirty="0"/>
              <a:t>לסיווג לנושא פניה.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מילוי </a:t>
            </a:r>
            <a:r>
              <a:rPr lang="en-US" sz="2400" dirty="0"/>
              <a:t>JSON</a:t>
            </a:r>
            <a:r>
              <a:rPr lang="he-IL" sz="2400" dirty="0"/>
              <a:t> מתאים לנושא הפניה. חלק ידני/חלק מודל.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חיפוש פרטים חסרים במצביע – ידני.</a:t>
            </a:r>
          </a:p>
          <a:p>
            <a:r>
              <a:rPr lang="he-IL" sz="2400" u="sng" dirty="0"/>
              <a:t>שלב ד</a:t>
            </a:r>
            <a:r>
              <a:rPr lang="he-IL" sz="2400" dirty="0"/>
              <a:t>', יצירת שאלה מקוצרת על פי תבנית ב</a:t>
            </a:r>
            <a:r>
              <a:rPr lang="en-US" sz="2400" dirty="0"/>
              <a:t>JSON</a:t>
            </a:r>
            <a:r>
              <a:rPr lang="he-IL" sz="2400" dirty="0"/>
              <a:t>. ידני.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B35DB36-FFE3-5FA5-0ADE-2BAB12F3D3C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12278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0F4A-CCA2-7795-B684-E88840F0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E8C54CB-DB3E-DF3B-D448-D38B6B569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000A171-E07C-A4A0-D582-513FA8A40DB3}"/>
              </a:ext>
            </a:extLst>
          </p:cNvPr>
          <p:cNvSpPr txBox="1"/>
          <p:nvPr/>
        </p:nvSpPr>
        <p:spPr>
          <a:xfrm>
            <a:off x="1993798" y="763923"/>
            <a:ext cx="867635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בדיקה האם הודעה היא הודעת המשך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E9F0379-B588-D3F9-B2D8-CD763040F00B}"/>
              </a:ext>
            </a:extLst>
          </p:cNvPr>
          <p:cNvSpPr txBox="1"/>
          <p:nvPr/>
        </p:nvSpPr>
        <p:spPr>
          <a:xfrm>
            <a:off x="1993798" y="1594920"/>
            <a:ext cx="8676352" cy="41549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מעבר על עץ נושאי השיחה הנוכחית ומציאת נושא מתאים לנושא ההודעה. במקרה שלא מתאים – מעבר על הדברים שיש ללקוח באותו אופן חיפוש.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שמירת מצביעה לרשומה המתאימה בעץ הדברים שיש ללקוח.</a:t>
            </a:r>
          </a:p>
          <a:p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הוצאת נושאים מתוך הודעת המשתמש.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מעבר על העץ למציאת הצומת המתאימה בנושא לנושא השיחה. במקרה ולא קיים צומת כזאת מוסיפים צומת חדשה. כל צומת מכילה: נושא  + רשימה של פרטים נוספים על הנושא.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יצירת מצביע שיצביע לצומת הנבחרת. נשתמש בה בהמשך.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DA9E902-64ED-1387-FA00-6B01B18C9AAB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29139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A08E-794B-E900-5567-EE998C71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2FEA62B4-119A-0A9E-AFCD-FDFA3CDFB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1C969C6-A33D-30A9-7818-C5981C0C3033}"/>
              </a:ext>
            </a:extLst>
          </p:cNvPr>
          <p:cNvSpPr txBox="1"/>
          <p:nvPr/>
        </p:nvSpPr>
        <p:spPr>
          <a:xfrm>
            <a:off x="3253402" y="194757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חיפוש קטעים לתשובה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62FA5D1-8197-91ED-C36F-AF406EB14580}"/>
              </a:ext>
            </a:extLst>
          </p:cNvPr>
          <p:cNvSpPr txBox="1"/>
          <p:nvPr/>
        </p:nvSpPr>
        <p:spPr>
          <a:xfrm>
            <a:off x="1617469" y="1046071"/>
            <a:ext cx="8957059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במקרה ומצוין חברה – חיפוש תשובה במסד הנתונים של החברה הרצויה.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מציאת קטעים המתאימים ביותר בתור תשובה לשאלה.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בחירת 10 קטעים קצרים המתאימים ביותר – מתוך העץ חיפוש בינארי הממוין על פי אחוז התאמה.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חיפוש קטגוריה מתאימה לנושא השאלה.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חיפוש במסדי הנתונים של החברות המנויות הקשורות לקטגוריה הנבחרת. על פי עדיפות.</a:t>
            </a:r>
          </a:p>
          <a:p>
            <a:r>
              <a:rPr lang="he-IL" sz="2400" u="sng" dirty="0"/>
              <a:t>שלב ג</a:t>
            </a:r>
            <a:r>
              <a:rPr lang="he-IL" sz="2400" dirty="0"/>
              <a:t>', מציאת 3 קטעים מתאימים ביותר לתשובה מכל חברה, </a:t>
            </a:r>
            <a:r>
              <a:rPr lang="en-US" sz="2400" dirty="0" err="1"/>
              <a:t>DistilBert</a:t>
            </a:r>
            <a:r>
              <a:rPr lang="he-IL" sz="2400" dirty="0"/>
              <a:t>, </a:t>
            </a:r>
            <a:r>
              <a:rPr lang="en-US" sz="2400" dirty="0" err="1"/>
              <a:t>SentenceTransformer</a:t>
            </a:r>
            <a:r>
              <a:rPr lang="he-IL" sz="2400" dirty="0"/>
              <a:t> – כתבתי לבד. </a:t>
            </a:r>
          </a:p>
          <a:p>
            <a:r>
              <a:rPr lang="he-IL" sz="2400" u="sng" dirty="0"/>
              <a:t>שלב ד</a:t>
            </a:r>
            <a:r>
              <a:rPr lang="he-IL" sz="2400" dirty="0"/>
              <a:t>', הכנסת הקטעים לעץ חיפוש בינארי על פי מספר התאמה.</a:t>
            </a:r>
          </a:p>
          <a:p>
            <a:r>
              <a:rPr lang="he-IL" sz="2400" u="sng" dirty="0"/>
              <a:t>שלב ה</a:t>
            </a:r>
            <a:r>
              <a:rPr lang="he-IL" sz="2400" dirty="0"/>
              <a:t>', אם חסר קטעים מתאימים, חיפוש כללי.</a:t>
            </a:r>
          </a:p>
          <a:p>
            <a:r>
              <a:rPr lang="he-IL" sz="2400" u="sng" dirty="0"/>
              <a:t>שלב ו</a:t>
            </a:r>
            <a:r>
              <a:rPr lang="he-IL" sz="2400" dirty="0"/>
              <a:t>', שאיבת 10 הקטעים המתאימים ביותר – עץ חיפוש בינארי.</a:t>
            </a:r>
            <a:endParaRPr lang="en-US" sz="2400"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4C960EE-1EFF-39F7-AFB9-3143130BAEA8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1009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7B49-B235-39A0-FB09-EA335851A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F58A0C98-371B-4428-F76C-7946C97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8239092-859A-BE1F-E7D4-4482C79D3231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ניסוח תשובה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87828F91-1931-D36C-7E72-8E924EDBD90B}"/>
              </a:ext>
            </a:extLst>
          </p:cNvPr>
          <p:cNvSpPr txBox="1"/>
          <p:nvPr/>
        </p:nvSpPr>
        <p:spPr>
          <a:xfrm>
            <a:off x="1715792" y="1645178"/>
            <a:ext cx="8760413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יצירת תשובה על פי הקטעים הנבחרים ביותר.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מבנה התשובה יהיה מותאם לסוג הפניה.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</a:p>
          <a:p>
            <a:r>
              <a:rPr lang="he-IL" sz="2400" u="sng" dirty="0"/>
              <a:t>שלב א</a:t>
            </a:r>
            <a:r>
              <a:rPr lang="he-IL" sz="2400" dirty="0"/>
              <a:t>', שליחת השאלה, והקטעים המתאימים ביותר בתור תשובה. נשלחים למודל </a:t>
            </a:r>
            <a:r>
              <a:rPr lang="en-US" sz="2400" b="1" dirty="0"/>
              <a:t>Flan-T5-Large</a:t>
            </a:r>
            <a:r>
              <a:rPr lang="he-IL" sz="2400" b="1" dirty="0"/>
              <a:t>. </a:t>
            </a:r>
            <a:r>
              <a:rPr lang="he-IL" sz="2400" dirty="0"/>
              <a:t>המודל יתבסס בתשובתו רק על נתונים מתוך הטקסט.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584C59C-2F4A-0BA6-24FD-B97238172DD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7933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8C43-3788-A8DF-F84E-1A4A5458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300D325-59F1-30D5-009F-80B2AECD8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940B1A4-BB71-B215-8D0E-B75434CDD65B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יצירת דוח אוטומטי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5C2F7CC-8ACE-125B-1BFB-1ABE4E263815}"/>
              </a:ext>
            </a:extLst>
          </p:cNvPr>
          <p:cNvSpPr txBox="1"/>
          <p:nvPr/>
        </p:nvSpPr>
        <p:spPr>
          <a:xfrm>
            <a:off x="1612553" y="1645178"/>
            <a:ext cx="8966891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במהלך השיחה נשמרים במילון רשימת שאלה-תשובה, שדה – המכיל </a:t>
            </a:r>
            <a:r>
              <a:rPr lang="en-US" sz="2400" dirty="0"/>
              <a:t>True</a:t>
            </a:r>
            <a:r>
              <a:rPr lang="he-IL" sz="2400" dirty="0"/>
              <a:t> כאשר בוצע שינוי </a:t>
            </a:r>
            <a:r>
              <a:rPr lang="he-IL" sz="2400" dirty="0" err="1"/>
              <a:t>בצא'ט</a:t>
            </a:r>
            <a:r>
              <a:rPr lang="he-IL" sz="2400" dirty="0"/>
              <a:t> הנוכחי, וכן עץ חיפוש המכיל את נושאי השיחה – מבנה העץ כמבנה עץ הדברים שיש לו. מפתח המילון הוא מספר </a:t>
            </a:r>
            <a:r>
              <a:rPr lang="he-IL" sz="2400" dirty="0" err="1"/>
              <a:t>הצא'ט</a:t>
            </a:r>
            <a:r>
              <a:rPr lang="he-IL" sz="2400" dirty="0"/>
              <a:t>.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בסיום השיחה יצירת השיחה כטקסט על פי מבנה מסוים.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/>
          </a:p>
          <a:p>
            <a:r>
              <a:rPr lang="he-IL" sz="2400" b="1" dirty="0"/>
              <a:t>פתרונות:</a:t>
            </a:r>
            <a:endParaRPr lang="he-IL" sz="3200" dirty="0"/>
          </a:p>
          <a:p>
            <a:r>
              <a:rPr lang="he-IL" sz="2400" u="sng" dirty="0"/>
              <a:t>שלב א</a:t>
            </a:r>
            <a:r>
              <a:rPr lang="he-IL" sz="2400" dirty="0"/>
              <a:t>', שמירת שאלה – תשובה ברשימה. הוספת נושאים לעץ.</a:t>
            </a:r>
          </a:p>
          <a:p>
            <a:r>
              <a:rPr lang="he-IL" sz="2400" u="sng" dirty="0"/>
              <a:t>שלב ב</a:t>
            </a:r>
            <a:r>
              <a:rPr lang="he-IL" sz="2400" dirty="0"/>
              <a:t>', יצירת דוח שיחה בסיום השיחה במקרה הנערך שינוי </a:t>
            </a:r>
            <a:r>
              <a:rPr lang="he-IL" sz="2400" dirty="0" err="1"/>
              <a:t>בצא'ט</a:t>
            </a:r>
            <a:r>
              <a:rPr lang="he-IL" sz="2400" dirty="0"/>
              <a:t>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F23B57D-F511-F2BD-6693-C37E0F5F548A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979730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3AF6-821F-44A1-7D94-7E7FBF78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531E8C7B-3A31-B0BC-FAC1-84422774C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7C6449B7-ACF1-205A-E943-2CB4865771DB}"/>
              </a:ext>
            </a:extLst>
          </p:cNvPr>
          <p:cNvSpPr txBox="1"/>
          <p:nvPr/>
        </p:nvSpPr>
        <p:spPr>
          <a:xfrm>
            <a:off x="3253402" y="814181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שמירת נתונים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4566E80-F11E-C754-3EBA-C8DD975BEEC2}"/>
              </a:ext>
            </a:extLst>
          </p:cNvPr>
          <p:cNvSpPr txBox="1"/>
          <p:nvPr/>
        </p:nvSpPr>
        <p:spPr>
          <a:xfrm>
            <a:off x="1381495" y="1645178"/>
            <a:ext cx="9429007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במהלך השיחה: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שליפת הנתונים שיש ללקוח ושמירתם המבנה מסוג </a:t>
            </a:r>
            <a:r>
              <a:rPr lang="en-US" sz="2400" b="1" dirty="0" err="1"/>
              <a:t>ThingsTheUserHas</a:t>
            </a:r>
            <a:r>
              <a:rPr lang="he-IL" sz="2400" b="1" dirty="0"/>
              <a:t> </a:t>
            </a:r>
            <a:r>
              <a:rPr lang="he-IL" sz="2400" dirty="0"/>
              <a:t>בתוך הצומת המתאימה לו או יצירת צומת חדשה.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שליפת הנתונים על הלקוח – "מה שהוא" והוספתם למבנה </a:t>
            </a:r>
            <a:r>
              <a:rPr lang="en-US" sz="2400" b="1" dirty="0"/>
              <a:t>User</a:t>
            </a:r>
            <a:r>
              <a:rPr lang="he-IL" sz="2400" dirty="0"/>
              <a:t>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/>
              <a:t>בסיום השיחה שמירת הנתונים ב</a:t>
            </a:r>
            <a:r>
              <a:rPr lang="en-US" sz="2400" dirty="0"/>
              <a:t>SQL</a:t>
            </a:r>
            <a:r>
              <a:rPr lang="he-IL" sz="2400" dirty="0"/>
              <a:t>: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הנתונים שיש ללקוח.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הנתונים של מה הוא.</a:t>
            </a:r>
          </a:p>
          <a:p>
            <a:pPr marL="742950" lvl="1" indent="-285750">
              <a:buFontTx/>
              <a:buChar char="-"/>
            </a:pPr>
            <a:r>
              <a:rPr lang="he-IL" sz="2400" dirty="0"/>
              <a:t>סיכום שיחה.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B7BAB18-225C-654F-5E00-F55DA1D1C9A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95222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EF74-A19C-D6B3-74FA-CF59BD4A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9331128F-D01A-A2D0-41D4-C2BB6D15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E548528-DE0E-F490-9F9E-62F58592AEC1}"/>
              </a:ext>
            </a:extLst>
          </p:cNvPr>
          <p:cNvSpPr txBox="1"/>
          <p:nvPr/>
        </p:nvSpPr>
        <p:spPr>
          <a:xfrm>
            <a:off x="3253403" y="902671"/>
            <a:ext cx="5685194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8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מבנה נתונים בפרויקט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4840765-F55E-4236-C268-AF68D0D4C92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498009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A76E-EF0D-6F1B-6C3E-DBB62020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08150852-A70C-D73B-B9E2-B39D5DD5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B3B0CF7-16D5-534B-6656-8400737E982E}"/>
              </a:ext>
            </a:extLst>
          </p:cNvPr>
          <p:cNvSpPr txBox="1"/>
          <p:nvPr/>
        </p:nvSpPr>
        <p:spPr>
          <a:xfrm>
            <a:off x="3253402" y="1699085"/>
            <a:ext cx="56851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List</a:t>
            </a:r>
            <a:r>
              <a:rPr lang="he-IL" sz="4800" b="1" dirty="0"/>
              <a:t> — רשימה</a:t>
            </a:r>
            <a:endParaRPr lang="he-IL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C9C10A5-D5EB-2124-050C-2E199B514480}"/>
              </a:ext>
            </a:extLst>
          </p:cNvPr>
          <p:cNvSpPr txBox="1"/>
          <p:nvPr/>
        </p:nvSpPr>
        <p:spPr>
          <a:xfrm>
            <a:off x="2829264" y="2828835"/>
            <a:ext cx="653347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ברשימות לשמירת שאלות, תשובות אפשריות, פסקאות שנשלפו ותוצאות ביניים. מבנה זה נבחר משום שהוא פשוט ונוח למעבר בלולאה.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0DDA3F1-C8D2-338B-894D-5E47BA6FA696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1968909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F099-0D90-AA55-7AEB-29F62011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99DB637-99C6-7803-6BE5-867468B06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51AC27F-3FC1-F492-3BEB-8D105B8A2B1E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Dictionary</a:t>
            </a:r>
            <a:r>
              <a:rPr lang="he-IL" sz="4800" b="1" dirty="0"/>
              <a:t> / </a:t>
            </a:r>
            <a:r>
              <a:rPr lang="he-IL" sz="4800" b="1" dirty="0" err="1"/>
              <a:t>Hash</a:t>
            </a:r>
            <a:r>
              <a:rPr lang="he-IL" sz="4800" b="1" dirty="0"/>
              <a:t> </a:t>
            </a:r>
            <a:r>
              <a:rPr lang="he-IL" sz="4800" b="1" dirty="0" err="1"/>
              <a:t>Map</a:t>
            </a:r>
            <a:r>
              <a:rPr lang="he-IL" sz="4800" b="1" dirty="0"/>
              <a:t> — מילון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E286BD0-0DD6-E675-E9EF-4A1D7F6C3DE0}"/>
              </a:ext>
            </a:extLst>
          </p:cNvPr>
          <p:cNvSpPr txBox="1"/>
          <p:nvPr/>
        </p:nvSpPr>
        <p:spPr>
          <a:xfrm>
            <a:off x="2473554" y="2807337"/>
            <a:ext cx="7244888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במילונים לשמירת מידע בצורה של מפתח וערך, לדוגמה שדות </a:t>
            </a:r>
            <a:r>
              <a:rPr lang="he-IL" sz="2400" dirty="0" err="1"/>
              <a:t>ה־JSON</a:t>
            </a:r>
            <a:r>
              <a:rPr lang="he-IL" sz="2400" dirty="0"/>
              <a:t> והערכים שחולצו מהשאלה. מספר </a:t>
            </a:r>
            <a:r>
              <a:rPr lang="he-IL" sz="2400" dirty="0" err="1"/>
              <a:t>צא'ט</a:t>
            </a:r>
            <a:r>
              <a:rPr lang="he-IL" sz="2400" dirty="0"/>
              <a:t> ופרטיו. מבנה זה מאפשר גישה מהירה לנתונים לפי שם השדה. וכן </a:t>
            </a:r>
            <a:r>
              <a:rPr lang="he-IL" sz="2400" dirty="0" err="1"/>
              <a:t>סינכרון</a:t>
            </a:r>
            <a:r>
              <a:rPr lang="he-IL" sz="2400" dirty="0"/>
              <a:t> מערכת. שכמה משתמשים יוכלו להנות משרותי </a:t>
            </a:r>
            <a:r>
              <a:rPr lang="he-IL" sz="2400" dirty="0" err="1"/>
              <a:t>הצא'ט</a:t>
            </a:r>
            <a:r>
              <a:rPr lang="he-IL" sz="2400" dirty="0"/>
              <a:t> בו זמנית.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9ACEABA-A9A2-9E3A-6B45-4476CE2A94C0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710101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52D2-2CB9-1FEE-1524-09909E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605E49BC-8CC1-DB3E-B247-0BEF09D71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419CE6D-89D3-9091-B4F7-FAA8D8E48EC2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/>
              <a:t>JSON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0CD9E1D-26BF-9D96-33C0-7ED3171E9340}"/>
              </a:ext>
            </a:extLst>
          </p:cNvPr>
          <p:cNvSpPr txBox="1"/>
          <p:nvPr/>
        </p:nvSpPr>
        <p:spPr>
          <a:xfrm>
            <a:off x="3004983" y="2797505"/>
            <a:ext cx="618203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</a:t>
            </a:r>
            <a:r>
              <a:rPr lang="he-IL" sz="2400" dirty="0" err="1"/>
              <a:t>ב־JSON</a:t>
            </a:r>
            <a:r>
              <a:rPr lang="he-IL" sz="2400" dirty="0"/>
              <a:t> כדי לייצג את שאלת המשתמש בצורה מסודרת לפי סוג הפנייה. לכל סוג שאלה קיים מבנה מתאים, והמערכת ממלאת בו את הפרטים שנמצאו בשאלה.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053B9D3-BC84-D5B0-A024-5F431EB33B74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4259776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115F5-8781-58A7-0AAF-41578DA1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EFD6853B-0852-9A07-4698-89D3C9A6C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E66E399-3274-DB48-50CC-28ED87ED4521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Binary</a:t>
            </a:r>
            <a:r>
              <a:rPr lang="he-IL" b="1" dirty="0"/>
              <a:t> </a:t>
            </a:r>
            <a:r>
              <a:rPr lang="he-IL" sz="4800" b="1" dirty="0" err="1"/>
              <a:t>Search</a:t>
            </a:r>
            <a:r>
              <a:rPr lang="he-IL" b="1" dirty="0"/>
              <a:t> </a:t>
            </a:r>
            <a:r>
              <a:rPr lang="he-IL" sz="4800" b="1" dirty="0" err="1"/>
              <a:t>Tree</a:t>
            </a:r>
            <a:endParaRPr lang="he-IL" sz="4800" b="1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F9CF872-CAC9-D938-600D-69738B3756C1}"/>
              </a:ext>
            </a:extLst>
          </p:cNvPr>
          <p:cNvSpPr txBox="1"/>
          <p:nvPr/>
        </p:nvSpPr>
        <p:spPr>
          <a:xfrm>
            <a:off x="2765936" y="2828835"/>
            <a:ext cx="666012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בפעולת </a:t>
            </a:r>
            <a:r>
              <a:rPr lang="he-IL" sz="2400" dirty="0" err="1"/>
              <a:t>Hash</a:t>
            </a:r>
            <a:r>
              <a:rPr lang="he-IL" sz="2400" dirty="0"/>
              <a:t> לשמירת סיסמאות בצורה בטוחה יותר. הסיסמה המקורית אינה נשמרת במסד הנתונים, אלא רק ערך </a:t>
            </a:r>
            <a:r>
              <a:rPr lang="he-IL" sz="2400" dirty="0" err="1"/>
              <a:t>Hash</a:t>
            </a:r>
            <a:r>
              <a:rPr lang="he-IL" sz="2400" dirty="0"/>
              <a:t> </a:t>
            </a:r>
            <a:r>
              <a:rPr lang="he-IL" sz="2400" dirty="0" err="1"/>
              <a:t>חד־כיווני</a:t>
            </a:r>
            <a:r>
              <a:rPr lang="he-IL" sz="2400" dirty="0"/>
              <a:t>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D48243F-67C2-7366-831B-531D803681AD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2662461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B4B3A-A90C-2238-E44E-DE0E98B6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7891545-626A-03D9-B092-87F7279BF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8CA6166-FBF6-ECBB-308D-7918CC0F0485}"/>
              </a:ext>
            </a:extLst>
          </p:cNvPr>
          <p:cNvSpPr txBox="1"/>
          <p:nvPr/>
        </p:nvSpPr>
        <p:spPr>
          <a:xfrm>
            <a:off x="1626699" y="1665495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he-IL" sz="4800" b="1" dirty="0" err="1"/>
              <a:t>Hash</a:t>
            </a:r>
            <a:r>
              <a:rPr lang="he-IL" b="1" dirty="0"/>
              <a:t> </a:t>
            </a:r>
            <a:r>
              <a:rPr lang="he-IL" sz="4800" b="1" dirty="0"/>
              <a:t>לסיסמאות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48D4AAB-69A3-E8F8-C037-ED4941B31299}"/>
              </a:ext>
            </a:extLst>
          </p:cNvPr>
          <p:cNvSpPr txBox="1"/>
          <p:nvPr/>
        </p:nvSpPr>
        <p:spPr>
          <a:xfrm>
            <a:off x="2584040" y="2748344"/>
            <a:ext cx="7023916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נעשה שימוש בעץ חיפוש בינארי לצורך שמירת תשובות לפי ציון ההתאמה שלהן. כך ניתן למיין את התשובות ולבחור את הקטעים המתאימים ביותר.</a:t>
            </a:r>
          </a:p>
          <a:p>
            <a:r>
              <a:rPr lang="he-IL" sz="2400" dirty="0"/>
              <a:t>וכן שמירת ה"דברים שיש לו" וכן נושאי השיחה בעץ חיפוש שכל צומת מכיל מבנה.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4D0871F-3620-3AC9-A425-7ED8CF7FD41F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</p:spTree>
    <p:extLst>
      <p:ext uri="{BB962C8B-B14F-4D97-AF65-F5344CB8AC3E}">
        <p14:creationId xmlns:p14="http://schemas.microsoft.com/office/powerpoint/2010/main" val="36549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E2C-88A0-9301-C4C9-EF90A2D8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375A66FA-690C-DF1D-24EB-FA88B1F37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2125" cy="166549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C7CF99F-33CF-E858-DA27-282DF1AA72BB}"/>
              </a:ext>
            </a:extLst>
          </p:cNvPr>
          <p:cNvSpPr txBox="1"/>
          <p:nvPr/>
        </p:nvSpPr>
        <p:spPr>
          <a:xfrm>
            <a:off x="1420221" y="832747"/>
            <a:ext cx="8938598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dirty="0"/>
              <a:t>תרשים מסכים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93F596A-776C-A347-2E47-7652B1F88029}"/>
              </a:ext>
            </a:extLst>
          </p:cNvPr>
          <p:cNvSpPr txBox="1"/>
          <p:nvPr/>
        </p:nvSpPr>
        <p:spPr>
          <a:xfrm>
            <a:off x="11159613" y="137651"/>
            <a:ext cx="7472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בס"ד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30487B90-464A-55D7-FE3B-6372A923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652" y="1766924"/>
            <a:ext cx="4668696" cy="37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118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934</TotalTime>
  <Words>1107</Words>
  <Application>Microsoft Office PowerPoint</Application>
  <PresentationFormat>מסך רחב</PresentationFormat>
  <Paragraphs>136</Paragraphs>
  <Slides>20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moriel9847594@gmail.com</dc:creator>
  <cp:lastModifiedBy>moriel9847594@gmail.com</cp:lastModifiedBy>
  <cp:revision>52</cp:revision>
  <dcterms:created xsi:type="dcterms:W3CDTF">2026-05-18T11:05:03Z</dcterms:created>
  <dcterms:modified xsi:type="dcterms:W3CDTF">2026-09-07T16:21:23Z</dcterms:modified>
</cp:coreProperties>
</file>